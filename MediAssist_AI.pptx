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 Bold" panose="020B0604020202020204" charset="0"/>
      <p:regular r:id="rId10"/>
    </p:embeddedFont>
    <p:embeddedFont>
      <p:font typeface="DM Sans" panose="020F0502020204030204" pitchFamily="2" charset="0"/>
      <p:regular r:id="rId11"/>
    </p:embeddedFont>
    <p:embeddedFont>
      <p:font typeface="Sarpanch" panose="020B0604020202020204" charset="0"/>
      <p:regular r:id="rId12"/>
    </p:embeddedFont>
    <p:embeddedFont>
      <p:font typeface="Sarpanch Ultra-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386" y="10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06279" y="3971018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35927" y="610718"/>
            <a:ext cx="13621818" cy="187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02"/>
              </a:lnSpc>
            </a:pPr>
            <a:r>
              <a:rPr lang="en-US" sz="13752" b="1">
                <a:solidFill>
                  <a:srgbClr val="FFFFFF"/>
                </a:solidFill>
                <a:latin typeface="Sarpanch Ultra-Bold"/>
                <a:ea typeface="Sarpanch Ultra-Bold"/>
                <a:cs typeface="Sarpanch Ultra-Bold"/>
                <a:sym typeface="Sarpanch Ultra-Bold"/>
              </a:rPr>
              <a:t>MediAssist AI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07292" y="2547518"/>
            <a:ext cx="10229917" cy="50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sz="3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TEAM- G SQUAD PRESENTATION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5430" y="6900207"/>
            <a:ext cx="4191701" cy="235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5"/>
              </a:lnSpc>
              <a:spcBef>
                <a:spcPct val="0"/>
              </a:spcBef>
            </a:pPr>
            <a:r>
              <a:rPr lang="en-US" sz="3404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L.VATCHALA</a:t>
            </a:r>
          </a:p>
          <a:p>
            <a:pPr algn="ctr">
              <a:lnSpc>
                <a:spcPts val="4765"/>
              </a:lnSpc>
              <a:spcBef>
                <a:spcPct val="0"/>
              </a:spcBef>
            </a:pPr>
            <a:r>
              <a:rPr lang="en-US" sz="3404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S.HARINI</a:t>
            </a:r>
          </a:p>
          <a:p>
            <a:pPr algn="ctr">
              <a:lnSpc>
                <a:spcPts val="4765"/>
              </a:lnSpc>
              <a:spcBef>
                <a:spcPct val="0"/>
              </a:spcBef>
            </a:pPr>
            <a:r>
              <a:rPr lang="en-US" sz="3404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S.YAMINI</a:t>
            </a:r>
          </a:p>
          <a:p>
            <a:pPr algn="ctr">
              <a:lnSpc>
                <a:spcPts val="4765"/>
              </a:lnSpc>
              <a:spcBef>
                <a:spcPct val="0"/>
              </a:spcBef>
            </a:pPr>
            <a:r>
              <a:rPr lang="en-US" sz="3404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MANASWINI PANDA</a:t>
            </a:r>
          </a:p>
        </p:txBody>
      </p:sp>
      <p:sp>
        <p:nvSpPr>
          <p:cNvPr id="6" name="Freeform 6"/>
          <p:cNvSpPr/>
          <p:nvPr/>
        </p:nvSpPr>
        <p:spPr>
          <a:xfrm>
            <a:off x="11843403" y="3788355"/>
            <a:ext cx="6951121" cy="6976490"/>
          </a:xfrm>
          <a:custGeom>
            <a:avLst/>
            <a:gdLst/>
            <a:ahLst/>
            <a:cxnLst/>
            <a:rect l="l" t="t" r="r" b="b"/>
            <a:pathLst>
              <a:path w="6951121" h="6976490">
                <a:moveTo>
                  <a:pt x="0" y="0"/>
                </a:moveTo>
                <a:lnTo>
                  <a:pt x="6951121" y="0"/>
                </a:lnTo>
                <a:lnTo>
                  <a:pt x="6951121" y="6976490"/>
                </a:lnTo>
                <a:lnTo>
                  <a:pt x="0" y="697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098425" y="-4753021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2"/>
                </a:lnTo>
                <a:lnTo>
                  <a:pt x="0" y="1156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83739" y="412018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09951" y="-3529330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2"/>
                </a:lnTo>
                <a:lnTo>
                  <a:pt x="0" y="1156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02550" y="1028700"/>
            <a:ext cx="9001064" cy="8966756"/>
          </a:xfrm>
          <a:custGeom>
            <a:avLst/>
            <a:gdLst/>
            <a:ahLst/>
            <a:cxnLst/>
            <a:rect l="l" t="t" r="r" b="b"/>
            <a:pathLst>
              <a:path w="9001064" h="8966756">
                <a:moveTo>
                  <a:pt x="0" y="0"/>
                </a:moveTo>
                <a:lnTo>
                  <a:pt x="9001064" y="0"/>
                </a:lnTo>
                <a:lnTo>
                  <a:pt x="9001064" y="8966756"/>
                </a:lnTo>
                <a:lnTo>
                  <a:pt x="0" y="8966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777740" y="730039"/>
            <a:ext cx="13864421" cy="115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Problem Statement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76590" y="2817267"/>
            <a:ext cx="7909673" cy="719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endParaRPr/>
          </a:p>
          <a:p>
            <a:pPr marL="561339" lvl="1" indent="-280669" algn="just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Limited access to doctors in rural areas.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Delay in identifying severity of symptoms.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Lack of quick decision-support tools.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Overcrowding in hospitals due to unnecessary visits.</a:t>
            </a:r>
          </a:p>
          <a:p>
            <a:pPr algn="just">
              <a:lnSpc>
                <a:spcPts val="2800"/>
              </a:lnSpc>
            </a:pPr>
            <a:endParaRPr lang="en-US" sz="25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Limited medical training among community health workers.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Poor digital healthcare support in remote regions.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98514" y="2035221"/>
            <a:ext cx="734904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Rural workers lack quick triage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7873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74774" y="525816"/>
            <a:ext cx="8444362" cy="132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0"/>
              </a:lnSpc>
            </a:pPr>
            <a:r>
              <a:rPr lang="en-US" sz="10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3963" y="2346960"/>
            <a:ext cx="11906315" cy="794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endParaRPr/>
          </a:p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MediAssist AI is a smart symptom-based triage chatbot designed to support rural healthcare workers.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18160" lvl="1" indent="-259080" algn="l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It analyzes patient symptoms quickly and suggests possible health conditions.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18160" lvl="1" indent="-259080" algn="l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Provides instant guidance on whether the patient needs home care or urgent medical attention.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18160" lvl="1" indent="-259080" algn="l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Helps healthcare workers make faster and more confident clinical decisions.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18160" lvl="1" indent="-259080" algn="l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Our MediAssist AI platform improves early health assessment and reduces unnecessary hospital visits.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18160" lvl="1" indent="-259080" algn="l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Easy-to-use digital assistant that strengthens digital healthcare support in rural communities.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1477579" y="-2524038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7990697" y="-970061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6860" y="1808517"/>
            <a:ext cx="8720647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 MediAssist AI (Smart Symptom Triage Chatbot)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2795400" y="-349100"/>
            <a:ext cx="5046846" cy="5938354"/>
          </a:xfrm>
          <a:custGeom>
            <a:avLst/>
            <a:gdLst/>
            <a:ahLst/>
            <a:cxnLst/>
            <a:rect l="l" t="t" r="r" b="b"/>
            <a:pathLst>
              <a:path w="5046846" h="5938354">
                <a:moveTo>
                  <a:pt x="0" y="0"/>
                </a:moveTo>
                <a:lnTo>
                  <a:pt x="5046846" y="0"/>
                </a:lnTo>
                <a:lnTo>
                  <a:pt x="5046846" y="5938354"/>
                </a:lnTo>
                <a:lnTo>
                  <a:pt x="0" y="5938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267137"/>
            <a:ext cx="5019863" cy="5019863"/>
          </a:xfrm>
          <a:custGeom>
            <a:avLst/>
            <a:gdLst/>
            <a:ahLst/>
            <a:cxnLst/>
            <a:rect l="l" t="t" r="r" b="b"/>
            <a:pathLst>
              <a:path w="5019863" h="5019863">
                <a:moveTo>
                  <a:pt x="0" y="0"/>
                </a:moveTo>
                <a:lnTo>
                  <a:pt x="5019863" y="0"/>
                </a:lnTo>
                <a:lnTo>
                  <a:pt x="5019863" y="5019863"/>
                </a:lnTo>
                <a:lnTo>
                  <a:pt x="0" y="5019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0909" y="731514"/>
            <a:ext cx="12058737" cy="132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80"/>
              </a:lnSpc>
            </a:pPr>
            <a:r>
              <a:rPr lang="en-US" sz="10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Technology Stack</a:t>
            </a:r>
          </a:p>
        </p:txBody>
      </p:sp>
      <p:sp>
        <p:nvSpPr>
          <p:cNvPr id="5" name="Freeform 5"/>
          <p:cNvSpPr/>
          <p:nvPr/>
        </p:nvSpPr>
        <p:spPr>
          <a:xfrm>
            <a:off x="11662439" y="-4960847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543578" y="4775150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2"/>
                </a:lnTo>
                <a:lnTo>
                  <a:pt x="0" y="11563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09942" y="2849537"/>
            <a:ext cx="10452497" cy="260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HTML – Builds the structure of the chatbot interface.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CSS – Designs and styles the user interface.</a:t>
            </a:r>
          </a:p>
          <a:p>
            <a:pPr algn="l">
              <a:lnSpc>
                <a:spcPts val="5039"/>
              </a:lnSpc>
            </a:pPr>
            <a:endParaRPr lang="en-US" sz="27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PHP – Handles backend logic and symptom processing.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08370" y="6795770"/>
            <a:ext cx="12035790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MySQL – Stores symptom and medical advice database.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Web-based system accessible through browsers.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Lightweight design suitable for low-resource rural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74808" y="4738044"/>
            <a:ext cx="5813192" cy="5548956"/>
          </a:xfrm>
          <a:custGeom>
            <a:avLst/>
            <a:gdLst/>
            <a:ahLst/>
            <a:cxnLst/>
            <a:rect l="l" t="t" r="r" b="b"/>
            <a:pathLst>
              <a:path w="5813192" h="5548956">
                <a:moveTo>
                  <a:pt x="0" y="0"/>
                </a:moveTo>
                <a:lnTo>
                  <a:pt x="5813192" y="0"/>
                </a:lnTo>
                <a:lnTo>
                  <a:pt x="5813192" y="5548956"/>
                </a:lnTo>
                <a:lnTo>
                  <a:pt x="0" y="5548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74808" y="-1204875"/>
            <a:ext cx="5286493" cy="5286493"/>
          </a:xfrm>
          <a:custGeom>
            <a:avLst/>
            <a:gdLst/>
            <a:ahLst/>
            <a:cxnLst/>
            <a:rect l="l" t="t" r="r" b="b"/>
            <a:pathLst>
              <a:path w="5286493" h="5286493">
                <a:moveTo>
                  <a:pt x="5286493" y="5286493"/>
                </a:moveTo>
                <a:lnTo>
                  <a:pt x="0" y="5286493"/>
                </a:lnTo>
                <a:lnTo>
                  <a:pt x="0" y="0"/>
                </a:lnTo>
                <a:lnTo>
                  <a:pt x="5286493" y="0"/>
                </a:lnTo>
                <a:lnTo>
                  <a:pt x="5286493" y="528649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77759" y="1817688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93388" y="496887"/>
            <a:ext cx="12058737" cy="132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0"/>
              </a:lnSpc>
            </a:pPr>
            <a:r>
              <a:rPr lang="en-US" sz="10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SYSTEM 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97773" y="2395491"/>
            <a:ext cx="9313648" cy="704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User opens the MediAssist AI chatbot interface.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Patient symptoms are entered into the system.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Backend processes the symptom data.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Database checks for matching conditions.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MediAssist AI analyzes and interprets the results.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User receives instant health advice or referral suggestion.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477579" y="-5371459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2"/>
                </a:lnTo>
                <a:lnTo>
                  <a:pt x="0" y="11563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71631" y="-477008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745964" y="-895396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2"/>
                </a:lnTo>
                <a:lnTo>
                  <a:pt x="0" y="1156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15837257" y="789235"/>
            <a:ext cx="8526125" cy="8708530"/>
          </a:xfrm>
          <a:custGeom>
            <a:avLst/>
            <a:gdLst/>
            <a:ahLst/>
            <a:cxnLst/>
            <a:rect l="l" t="t" r="r" b="b"/>
            <a:pathLst>
              <a:path w="8526125" h="8708530">
                <a:moveTo>
                  <a:pt x="0" y="0"/>
                </a:moveTo>
                <a:lnTo>
                  <a:pt x="8526126" y="0"/>
                </a:lnTo>
                <a:lnTo>
                  <a:pt x="8526126" y="8708530"/>
                </a:lnTo>
                <a:lnTo>
                  <a:pt x="0" y="8708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36589" y="1046410"/>
            <a:ext cx="10767889" cy="132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0"/>
              </a:lnSpc>
            </a:pPr>
            <a:r>
              <a:rPr lang="en-US" sz="10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2640" y="3009900"/>
            <a:ext cx="10527049" cy="5524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User accesses the </a:t>
            </a:r>
            <a:r>
              <a:rPr lang="en-US" sz="2599" dirty="0" err="1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MediAssist</a:t>
            </a:r>
            <a:r>
              <a:rPr lang="en-US" sz="25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 AI platform.</a:t>
            </a:r>
          </a:p>
          <a:p>
            <a:pPr algn="just">
              <a:lnSpc>
                <a:spcPts val="3639"/>
              </a:lnSpc>
            </a:pPr>
            <a:endParaRPr lang="en-US" sz="25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Enters symptoms such as fever, cough, or fatigue.</a:t>
            </a:r>
          </a:p>
          <a:p>
            <a:pPr algn="just">
              <a:lnSpc>
                <a:spcPts val="3639"/>
              </a:lnSpc>
            </a:pPr>
            <a:endParaRPr lang="en-US" sz="25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Chatbot processes the information instantly.</a:t>
            </a:r>
          </a:p>
          <a:p>
            <a:pPr algn="just">
              <a:lnSpc>
                <a:spcPts val="3639"/>
              </a:lnSpc>
            </a:pPr>
            <a:endParaRPr lang="en-US" sz="25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System searches the symptom database.</a:t>
            </a:r>
          </a:p>
          <a:p>
            <a:pPr algn="just">
              <a:lnSpc>
                <a:spcPts val="3639"/>
              </a:lnSpc>
            </a:pPr>
            <a:endParaRPr lang="en-US" sz="25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dirty="0" err="1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MediAssist</a:t>
            </a:r>
            <a:r>
              <a:rPr lang="en-US" sz="25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 AI displays possible advice.</a:t>
            </a:r>
          </a:p>
          <a:p>
            <a:pPr algn="just">
              <a:lnSpc>
                <a:spcPts val="3639"/>
              </a:lnSpc>
            </a:pPr>
            <a:endParaRPr lang="en-US" sz="25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User is guided on the next healthcare step.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2984752" y="532060"/>
            <a:ext cx="8526125" cy="8708530"/>
          </a:xfrm>
          <a:custGeom>
            <a:avLst/>
            <a:gdLst/>
            <a:ahLst/>
            <a:cxnLst/>
            <a:rect l="l" t="t" r="r" b="b"/>
            <a:pathLst>
              <a:path w="8526125" h="8708530">
                <a:moveTo>
                  <a:pt x="0" y="0"/>
                </a:moveTo>
                <a:lnTo>
                  <a:pt x="8526126" y="0"/>
                </a:lnTo>
                <a:lnTo>
                  <a:pt x="8526126" y="8708530"/>
                </a:lnTo>
                <a:lnTo>
                  <a:pt x="0" y="8708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33985" y="2544024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2" y="0"/>
                </a:lnTo>
                <a:lnTo>
                  <a:pt x="11563442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066271" y="-1230155"/>
            <a:ext cx="5128604" cy="5147322"/>
          </a:xfrm>
          <a:custGeom>
            <a:avLst/>
            <a:gdLst/>
            <a:ahLst/>
            <a:cxnLst/>
            <a:rect l="l" t="t" r="r" b="b"/>
            <a:pathLst>
              <a:path w="5128604" h="5147322">
                <a:moveTo>
                  <a:pt x="0" y="0"/>
                </a:moveTo>
                <a:lnTo>
                  <a:pt x="5128604" y="0"/>
                </a:lnTo>
                <a:lnTo>
                  <a:pt x="5128604" y="5147322"/>
                </a:lnTo>
                <a:lnTo>
                  <a:pt x="0" y="5147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93709" y="768518"/>
            <a:ext cx="12183741" cy="132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0"/>
              </a:lnSpc>
            </a:pPr>
            <a:r>
              <a:rPr lang="en-US" sz="104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Future Directions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8591" y="2724209"/>
            <a:ext cx="9892334" cy="6278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928" lvl="1" indent="-291464" algn="just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Integration of advanced AI/ML models for better predictions.</a:t>
            </a:r>
          </a:p>
          <a:p>
            <a:pPr algn="just">
              <a:lnSpc>
                <a:spcPts val="3779"/>
              </a:lnSpc>
            </a:pPr>
            <a:endParaRPr lang="en-US" sz="26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82928" lvl="1" indent="-291464" algn="just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Voice interaction for easier use in rural areas.</a:t>
            </a:r>
          </a:p>
          <a:p>
            <a:pPr algn="just">
              <a:lnSpc>
                <a:spcPts val="3779"/>
              </a:lnSpc>
            </a:pPr>
            <a:endParaRPr lang="en-US" sz="26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82928" lvl="1" indent="-291464" algn="just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Support for multiple regional languages.</a:t>
            </a:r>
          </a:p>
          <a:p>
            <a:pPr algn="just">
              <a:lnSpc>
                <a:spcPts val="3779"/>
              </a:lnSpc>
            </a:pPr>
            <a:endParaRPr lang="en-US" sz="26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82928" lvl="1" indent="-291464" algn="just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Mobile application for field healthcare workers.</a:t>
            </a:r>
          </a:p>
          <a:p>
            <a:pPr algn="just">
              <a:lnSpc>
                <a:spcPts val="3779"/>
              </a:lnSpc>
            </a:pPr>
            <a:endParaRPr lang="en-US" sz="26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82928" lvl="1" indent="-291464" algn="just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Integration with hospital and telemedicine systems.</a:t>
            </a:r>
          </a:p>
          <a:p>
            <a:pPr algn="just">
              <a:lnSpc>
                <a:spcPts val="3779"/>
              </a:lnSpc>
            </a:pPr>
            <a:endParaRPr lang="en-US" sz="26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  <a:p>
            <a:pPr marL="582928" lvl="1" indent="-291464" algn="just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Continuous improvement using real healthcare data.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Sarpanch"/>
              <a:ea typeface="Sarpanch"/>
              <a:cs typeface="Sarpanch"/>
              <a:sym typeface="Sarpanch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005335" y="3917167"/>
            <a:ext cx="6951121" cy="6976490"/>
          </a:xfrm>
          <a:custGeom>
            <a:avLst/>
            <a:gdLst/>
            <a:ahLst/>
            <a:cxnLst/>
            <a:rect l="l" t="t" r="r" b="b"/>
            <a:pathLst>
              <a:path w="6951121" h="6976490">
                <a:moveTo>
                  <a:pt x="0" y="0"/>
                </a:moveTo>
                <a:lnTo>
                  <a:pt x="6951120" y="0"/>
                </a:lnTo>
                <a:lnTo>
                  <a:pt x="6951120" y="6976490"/>
                </a:lnTo>
                <a:lnTo>
                  <a:pt x="0" y="697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174735" y="-6133162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20616" y="5143500"/>
            <a:ext cx="5813192" cy="5548956"/>
          </a:xfrm>
          <a:custGeom>
            <a:avLst/>
            <a:gdLst/>
            <a:ahLst/>
            <a:cxnLst/>
            <a:rect l="l" t="t" r="r" b="b"/>
            <a:pathLst>
              <a:path w="5813192" h="5548956">
                <a:moveTo>
                  <a:pt x="0" y="0"/>
                </a:moveTo>
                <a:lnTo>
                  <a:pt x="5813192" y="0"/>
                </a:lnTo>
                <a:lnTo>
                  <a:pt x="5813192" y="5548956"/>
                </a:lnTo>
                <a:lnTo>
                  <a:pt x="0" y="5548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76456" y="-1945468"/>
            <a:ext cx="5813192" cy="5548956"/>
          </a:xfrm>
          <a:custGeom>
            <a:avLst/>
            <a:gdLst/>
            <a:ahLst/>
            <a:cxnLst/>
            <a:rect l="l" t="t" r="r" b="b"/>
            <a:pathLst>
              <a:path w="5813192" h="5548956">
                <a:moveTo>
                  <a:pt x="0" y="0"/>
                </a:moveTo>
                <a:lnTo>
                  <a:pt x="5813192" y="0"/>
                </a:lnTo>
                <a:lnTo>
                  <a:pt x="5813192" y="5548956"/>
                </a:lnTo>
                <a:lnTo>
                  <a:pt x="0" y="5548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041230" y="3207566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43034" y="-4490007"/>
            <a:ext cx="11563441" cy="11563441"/>
          </a:xfrm>
          <a:custGeom>
            <a:avLst/>
            <a:gdLst/>
            <a:ahLst/>
            <a:cxnLst/>
            <a:rect l="l" t="t" r="r" b="b"/>
            <a:pathLst>
              <a:path w="11563441" h="11563441">
                <a:moveTo>
                  <a:pt x="0" y="0"/>
                </a:moveTo>
                <a:lnTo>
                  <a:pt x="11563441" y="0"/>
                </a:lnTo>
                <a:lnTo>
                  <a:pt x="11563441" y="11563441"/>
                </a:lnTo>
                <a:lnTo>
                  <a:pt x="0" y="11563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01324" y="3374302"/>
            <a:ext cx="1048535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Sarpanch"/>
                <a:ea typeface="Sarpanch"/>
                <a:cs typeface="Sarpanch"/>
                <a:sym typeface="Sarpanch"/>
              </a:rPr>
              <a:t>“MediAssist AI – Bringing Intelligent Healthcare to Every Community.”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87634" y="4886939"/>
            <a:ext cx="4712732" cy="10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367</Words>
  <Application>Microsoft Office PowerPoint</Application>
  <PresentationFormat>Custom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Sarpanch</vt:lpstr>
      <vt:lpstr>DM Sans</vt:lpstr>
      <vt:lpstr>Arial</vt:lpstr>
      <vt:lpstr>Calibri</vt:lpstr>
      <vt:lpstr>Canva Sans Bold</vt:lpstr>
      <vt:lpstr>Sarpanch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 Green and Black Futuristic Artificial  Intelligence Presentation</dc:title>
  <cp:lastModifiedBy>vathsala63@outlook.com</cp:lastModifiedBy>
  <cp:revision>2</cp:revision>
  <dcterms:created xsi:type="dcterms:W3CDTF">2006-08-16T00:00:00Z</dcterms:created>
  <dcterms:modified xsi:type="dcterms:W3CDTF">2026-03-08T07:03:25Z</dcterms:modified>
  <dc:identifier>DAHDVa-IcuY</dc:identifier>
</cp:coreProperties>
</file>